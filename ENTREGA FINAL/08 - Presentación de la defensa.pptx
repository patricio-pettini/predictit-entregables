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Presentarse. Nombre del sistema y una frase: es un sistema para que una PyME sepa qué equipos tiene y cuáles están por fallar. Veinte minutos: diez de recorrido y diez de demostración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empezar por la tecnología. El jurado tiene que entender el problema antes que la solución. La cifra del Observatorio PyME está en el capítulo 1 si la piden.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 en el orden. Si preguntan por la IA, la respuesta es que la IA es la tercera capa y que el sistema funciona sin 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Primera pantalla real. Señalar los cuatro números de arriba y el ranking de riesgo. Todavía no entrar en el detalle.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diapositiva que contesta «¿y de dónde sale ese número?». El puntaje no es una caja negra: se abre y se audita regla por regla. Si hay una sola pregunta técnica, va a ser ésta.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distribución y el ranking. Mencionar que el motor se dispara solo: al registrar una incidencia y por un barrido periódico.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 habla sólo con BLL. DAO es el único que conoce SQL. Domain no referencia a nadie. Es el modelo de la materia, llevado a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el costo de la decisión: no hay integridad referencial entre bases y hay que resolverla en código. Está asumido y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Ésta es una decisión de seguridad, no de modelado. Contarla así.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uno, abrir el documento de patrones: cada patrón tiene el archivo y la línea donde está. Ninguno está puesto para la lámina.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Ofrecer demostrarlo: se fuerza la caída del proveedor y se ve la asignación de respaldo. Si hay tiempo, hacerlo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del token es la que más se pregunta. El costo es una consulta por pedido; el beneficio es que echar a alguien tiene efecto 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Ofrecer correr la suite en vivo. Tarda menos de un segundo.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Ésta es la diapositiva que muestra criterio de ingeniería. La técnica es comparar lo que el sistema declara con lo que usa. Si preguntan cómo se me ocurrió: contando filas de la bitácora después de una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el uso de IA en el trabajo, esta es la respuesta: está documentado, con los prompts y con lo que hubo que corregir.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docker compose up -d. Base, migraciones, API y frontend. El CI de GitHub Actions compila, corre las pruebas y arma las imágenes.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 los dos números en la misma frase. Presentar sólo el positivo es lo que hace la pregunta incómoda; presentar los dos y explicar por qué se tomó el piso del rango de múltiplos la contesta antes de que la hagan.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Decirlo antes de que lo pregunten. Un trabajo que dice qué le falta es más creíble que uno que dice que está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Ensayar este recorrido completo al menos tres veces con el reloj. El paso 7 es el cierre: se hace desde sqlcmd y da el error 50001.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mirando al jurado, sin leer.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0"/>
            <a:ext cx="1058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b="1" sz="5400">
                <a:solidFill>
                  <a:srgbClr val="0F1317"/>
                </a:solidFill>
                <a:latin typeface="Calibri"/>
              </a:rPr>
              <a:t>PredictIT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3240000"/>
            <a:ext cx="1058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>
                <a:solidFill>
                  <a:srgbClr val="4D5661"/>
                </a:solidFill>
                <a:latin typeface="Calibri"/>
              </a:rPr>
              <a:t>Sistema de gestión y mantenimiento predictivo de equipos informáticos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4860000"/>
            <a:ext cx="1058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Patricio Ezequiel Pettini  ·  Legajo B00072710-T1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Trabajo Final de Ingeniería  ·  Ingeniería en Sistemas Informáticos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Universidad Abierta Interamericana  ·  Sede Norte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17/09/2026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Qué hace hoy una PyME sin herramienta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gestión del parque informático vive en una planilla, en un cuaderno o en la memoria de quien lo atiende.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Las consecuencias son tres y se refuerzan entre sí: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No se sabe qué hay.</a:t>
            </a:r>
            <a:r>
              <a:rPr b="0" sz="1800">
                <a:solidFill>
                  <a:srgbClr val="4D5661"/>
                </a:solidFill>
                <a:latin typeface="Calibri"/>
              </a:rPr>
              <a:t> Ni cuántos equipos, ni dónde, ni de quién.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Se repara cuando ya falló.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costo de la falla incluye el tiempo que la persona no pudo trabajar.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La misma falla vuelve.</a:t>
            </a:r>
            <a:r>
              <a:rPr b="0" sz="1800">
                <a:solidFill>
                  <a:srgbClr val="4D5661"/>
                </a:solidFill>
                <a:latin typeface="Calibri"/>
              </a:rPr>
              <a:t> Sin historial, nadie nota que es la tercera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Tres cosas, en este 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1. Un inventario que se mantiene solo.</a:t>
            </a:r>
            <a:r>
              <a:rPr b="0" sz="1800">
                <a:solidFill>
                  <a:srgbClr val="4D5661"/>
                </a:solidFill>
                <a:latin typeface="Calibri"/>
              </a:rPr>
              <a:t> Cada incidencia y cada mantenimiento quedan pegados al equipo.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2. Un motor predictivo.</a:t>
            </a:r>
            <a:r>
              <a:rPr b="0" sz="1800">
                <a:solidFill>
                  <a:srgbClr val="4D5661"/>
                </a:solidFill>
                <a:latin typeface="Calibri"/>
              </a:rPr>
              <a:t> Cinco reglas sobre ese historial dan un puntaje de riesgo de 0 a 100 por equipo, con el aporte de cada regla a la vista.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3. Asignación asistida por IA.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sistema propone el técnico según carga, especialidad e historial, y explica por qué. La persona decide.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orden importa: sin el punto 1 no hay datos, y sin datos el 2 y el 3 son una demostración vacía.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Tablero del administrador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puntaje se puede abrir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Cada regla dice cuánto aporta y por qué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equipo-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Análisis predictivo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parque ordenado por riesgo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predic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Cinco capas, dependencias en un solo sentido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Dos bases separadas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Negocio y seguridad no se tocan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PredictIT_Negocio</a:t>
            </a:r>
            <a:r>
              <a:rPr b="0" sz="1800">
                <a:solidFill>
                  <a:srgbClr val="4D5661"/>
                </a:solidFill>
                <a:latin typeface="Calibri"/>
              </a:rPr>
              <a:t> guarda el parque, las incidencias, los mantenimientos y las alertas.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PredictIT_Servicio</a:t>
            </a:r>
            <a:r>
              <a:rPr b="0" sz="1800">
                <a:solidFill>
                  <a:srgbClr val="4D5661"/>
                </a:solidFill>
                <a:latin typeface="Calibri"/>
              </a:rPr>
              <a:t> guarda usuarios, permisos, bitácora, idiomas y respaldos.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Son dos cadenas de conexión distintas. Un acceso a los datos del cliente no alcanza los permisos, y al revés tampoco.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Las referencias entre bases son identificadores lógicos sin clave foránea, resueltos en memoria por lote. Es el precio de la separación, y está documentado en el ADR 0003.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Multi-organización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aislamiento se aplica en el acceso a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Toda tabla de negocio lleva la organización, y el filtro lo aplica el DAO a partir del contexto de sesión.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La organización nunca viaja en la petición HTTP.</a:t>
            </a:r>
            <a:r>
              <a:rPr b="0" sz="1800">
                <a:solidFill>
                  <a:srgbClr val="4D5661"/>
                </a:solidFill>
                <a:latin typeface="Calibri"/>
              </a:rPr>
              <a:t> Si viajara, alcanzaría con cambiarla para ver los datos de otro cliente.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Es lo que hace posible el plan Partner: un proveedor de soporte que atiende a varias empresas desde un mismo usuario.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Patrones aplicados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Los diez están en uso, no declarados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504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Genérico de acceso a datos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IGenericDao&lt;T&gt;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Mapeador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IObjectMapper&lt;T&gt;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Fábrica abstracta</a:t>
            </a:r>
            <a:r>
              <a:rPr b="0" sz="1600">
                <a:solidFill>
                  <a:srgbClr val="4D5661"/>
                </a:solidFill>
                <a:latin typeface="Calibri"/>
              </a:rPr>
              <a:t> · FactoryDao y FactoryBusiness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Unidad de trabajo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SqlTransactRepository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Compuesto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Familia y Patente, con guarda de ciclos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2000" y="1979999"/>
            <a:ext cx="504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Estrategia</a:t>
            </a:r>
            <a:r>
              <a:rPr b="0" sz="1600">
                <a:solidFill>
                  <a:srgbClr val="4D5661"/>
                </a:solidFill>
                <a:latin typeface="Calibri"/>
              </a:rPr>
              <a:t> · las cinco reglas del motor predictivo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Adaptador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IProveedorIA, con dos implementaciones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Decorador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ProveedorIAConDisyuntor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Disyuntor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corta las llamadas al proveedor caído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Mamparo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pool de conexiones propio para el trabajo de fondo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La IA puede fallar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Y el sistema lo 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proveedor de IA está detrás de una interfaz con dos implementaciones: la real y una simulada determinística.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Un </a:t>
            </a:r>
            <a:r>
              <a:rPr b="1" sz="1800">
                <a:solidFill>
                  <a:srgbClr val="0F1317"/>
                </a:solidFill>
                <a:latin typeface="Calibri"/>
              </a:rPr>
              <a:t>disyuntor</a:t>
            </a:r>
            <a:r>
              <a:rPr b="0" sz="1800">
                <a:solidFill>
                  <a:srgbClr val="4D5661"/>
                </a:solidFill>
                <a:latin typeface="Calibri"/>
              </a:rPr>
              <a:t> cuenta los fallos. Cuando abre, el sistema deja de llamar al proveedor y asigna por carga, marca la incidencia para revisión y lo asienta en la bitácora.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origen de cada asignación se guarda con tres valores: </a:t>
            </a:r>
            <a:r>
              <a:rPr b="1" sz="1800">
                <a:solidFill>
                  <a:srgbClr val="0F1317"/>
                </a:solidFill>
                <a:latin typeface="Calibri"/>
              </a:rPr>
              <a:t>IA</a:t>
            </a:r>
            <a:r>
              <a:rPr b="0" sz="1800">
                <a:solidFill>
                  <a:srgbClr val="4D5661"/>
                </a:solidFill>
                <a:latin typeface="Calibri"/>
              </a:rPr>
              <a:t>, </a:t>
            </a:r>
            <a:r>
              <a:rPr b="1" sz="1800">
                <a:solidFill>
                  <a:srgbClr val="0F1317"/>
                </a:solidFill>
                <a:latin typeface="Calibri"/>
              </a:rPr>
              <a:t>automática</a:t>
            </a:r>
            <a:r>
              <a:rPr b="0" sz="1800">
                <a:solidFill>
                  <a:srgbClr val="4D5661"/>
                </a:solidFill>
                <a:latin typeface="Calibri"/>
              </a:rPr>
              <a:t> o </a:t>
            </a:r>
            <a:r>
              <a:rPr b="1" sz="1800">
                <a:solidFill>
                  <a:srgbClr val="0F1317"/>
                </a:solidFill>
                <a:latin typeface="Calibri"/>
              </a:rPr>
              <a:t>respaldo</a:t>
            </a:r>
            <a:r>
              <a:rPr b="0" sz="1800">
                <a:solidFill>
                  <a:srgbClr val="4D5661"/>
                </a:solidFill>
                <a:latin typeface="Calibri"/>
              </a:rPr>
              <a:t>. Registrar como IA lo que decidió una heurística falsearía la trazabilidad.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Es el caso de prueba CP-14, y está automatizado.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Seguridad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Cuatro decisiones y por qué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Contraseñas</a:t>
            </a:r>
            <a:r>
              <a:rPr b="0" sz="1700">
                <a:solidFill>
                  <a:srgbClr val="4D5661"/>
                </a:solidFill>
                <a:latin typeface="Calibri"/>
              </a:rPr>
              <a:t> con PBKDF2-HMAC-SHA256, 600.000 iteraciones —la recomendación de OWASP—. No se pueden recuperar, sólo restablecer.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Credenciales de terceros</a:t>
            </a:r>
            <a:r>
              <a:rPr b="0" sz="1700">
                <a:solidFill>
                  <a:srgbClr val="4D5661"/>
                </a:solidFill>
                <a:latin typeface="Calibri"/>
              </a:rPr>
              <a:t> con AES-256-GCM. Ningún endpoint devuelve la clave: sólo su origen.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El token no lleva los permisos.</a:t>
            </a:r>
            <a:r>
              <a:rPr b="0" sz="1700">
                <a:solidFill>
                  <a:srgbClr val="4D5661"/>
                </a:solidFill>
                <a:latin typeface="Calibri"/>
              </a:rPr>
              <a:t> Se consultan en cada pedido, así una revocación tiene efecto inmediato y no al vencer la sesión.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La bitácora no se puede alterar.</a:t>
            </a:r>
            <a:r>
              <a:rPr b="0" sz="1700">
                <a:solidFill>
                  <a:srgbClr val="4D5661"/>
                </a:solidFill>
                <a:latin typeface="Calibri"/>
              </a:rPr>
              <a:t> Un disparador rechaza cualquier UPDATE o DELETE con el error 50001, incluso conectándose directo a la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Cómo sé que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La evidencia se genera, no se escribe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362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automatizadas
de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6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6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de 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2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14 /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2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casos de prueba del
capítulo 10 cubiertos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8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8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decisiones de
arquitectura registradas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563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documento de casos de prueba se arma corriendo la suite y leyendo su salida. Una tabla escrita a mano seguiría diciendo que todo pasa el día que algo deje de pasar.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 mismo con el diccionario de datos, que se lee de las bases, y con los diagramas, que salen del mismo texto que se ve en 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Lo que encontré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Los peores defectos eran ausencias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Ninguna prueba podía fallar, porque no había código roto. Faltaba código.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La bitácora no asentaba nada de negocio.</a:t>
            </a:r>
            <a:r>
              <a:rPr b="0" sz="1700">
                <a:solidFill>
                  <a:srgbClr val="4D5661"/>
                </a:solidFill>
                <a:latin typeface="Calibri"/>
              </a:rPr>
              <a:t> Ocho de nueve códigos de evento no estaban en el catálogo y el servicio los descartaba en silencio. Se encontró contando filas, no leyendo código.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El motor predictivo no se disparaba solo.</a:t>
            </a:r>
            <a:r>
              <a:rPr b="0" sz="1700">
                <a:solidFill>
                  <a:srgbClr val="4D5661"/>
                </a:solidFill>
                <a:latin typeface="Calibri"/>
              </a:rPr>
              <a:t> Nadie llamaba a evaluar salvo la pantalla.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Seis casos de uso que el modelo de permisos prometía y el sistema no tenía.</a:t>
            </a:r>
            <a:r>
              <a:rPr b="0" sz="1700">
                <a:solidFill>
                  <a:srgbClr val="4D5661"/>
                </a:solidFill>
                <a:latin typeface="Calibri"/>
              </a:rPr>
              <a:t> Aparecieron buscando patentes declaradas que nadie usaba.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Cómo se trabajó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Nueve sprints, con trazabilidad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sprints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68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68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historias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6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6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terminadas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4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98 %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04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 avance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72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72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cambios sobre el
documento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563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Cada decisión que contradice al documento original está anotada con la sección exacta, qué decía, qué dice ahora y por qué. No se reconstruyó al final: se anotó en el momento.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uso de IA en el desarrollo está registrado en un anexo aparte, con los prompts críticos y qué se aceptó, qué se corrigió y qué se descartó.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Despliegue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Cuatro contenedores y un comando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Viabilidad económica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Son dos números y hay que decir los 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Horizonte de cuatro años, con valor terminal a </a:t>
            </a:r>
            <a:r>
              <a:rPr b="1" sz="1600">
                <a:solidFill>
                  <a:srgbClr val="0F1317"/>
                </a:solidFill>
                <a:latin typeface="Calibri"/>
              </a:rPr>
              <a:t>1,5× ingresos</a:t>
            </a:r>
            <a:r>
              <a:rPr b="0" sz="1600">
                <a:solidFill>
                  <a:srgbClr val="4D5661"/>
                </a:solidFill>
                <a:latin typeface="Calibri"/>
              </a:rPr>
              <a:t>, el piso del rango de mercado.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VAN operativo: −61,6 M.</a:t>
            </a:r>
            <a:r>
              <a:rPr b="0" sz="1600">
                <a:solidFill>
                  <a:srgbClr val="4D5661"/>
                </a:solidFill>
                <a:latin typeface="Calibri"/>
              </a:rPr>
              <a:t> El flujo de los cuatro años no alcanza: la ventana termina justo en el ejercicio en que el proyecto se da vuelta.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VAN con valor terminal: +184,7 M.</a:t>
            </a:r>
            <a:r>
              <a:rPr b="0" sz="1600">
                <a:solidFill>
                  <a:srgbClr val="4D5661"/>
                </a:solidFill>
                <a:latin typeface="Calibri"/>
              </a:rPr>
              <a:t> El proyecto crea valor por lo que vale la cartera al cierre, no por el flujo del período. TIR 113 % nominal, índice de rentabilidad 2,31.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La lectura del resultado en la planilla se calcula con fórmulas, y la sensibilidad al múltiplo está al lado. Un texto fijo que dijera «el VAN es positivo» sobreviviría al cambio de hipótesis que lo vuelve falso.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Lo que falta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Está en el backlog, con su sprint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capa de negocio tiene la cobertura de pruebas más baja de las cinco: 29,1 %.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Una interfaz de administración con dieciocho métodos, que hay que partir.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Dos categorías de OWASP quedan abiertas y declaradas como riesgo aceptado.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medición de carga es local: no mide latencia de red ni carga sostenida.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Nada de esto está tapado: cada punto es una historia con su sprint asignado.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Demostración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Diez minutos, un recorrido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1.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solicitante y reportar una falla en castellano.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2.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sistema la clasifica y propone un técnico, con su justificación.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3.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técnico: atender, resolver y registrar el mantenimiento.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4.</a:t>
            </a:r>
            <a:r>
              <a:rPr b="0" sz="1800">
                <a:solidFill>
                  <a:srgbClr val="4D5661"/>
                </a:solidFill>
                <a:latin typeface="Calibri"/>
              </a:rPr>
              <a:t> Ver el equipo: el historial creció y el puntaje de riesgo cambió.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5.</a:t>
            </a:r>
            <a:r>
              <a:rPr b="0" sz="1800">
                <a:solidFill>
                  <a:srgbClr val="4D5661"/>
                </a:solidFill>
                <a:latin typeface="Calibri"/>
              </a:rPr>
              <a:t> Abrir el puntaje y leer el aporte de cada regla.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6.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administrador y ver el hecho en la bitácora.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7.</a:t>
            </a:r>
            <a:r>
              <a:rPr b="0" sz="1800">
                <a:solidFill>
                  <a:srgbClr val="4D5661"/>
                </a:solidFill>
                <a:latin typeface="Calibri"/>
              </a:rPr>
              <a:t> Intentar borrar esa fila de la bitácora desde la base, y que falle.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En resumen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224000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historias de usuario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68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386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68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automatizadas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6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6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decisiones registradas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4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4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patrones en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72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72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cambios documentados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096000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Un sistema que funciona de punta a punta, con la separación de capas de la carrera, la evidencia generada del propio sistema y el registro de por qué cada cosa es como es.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Gracias. Quedo a disposición para las preguntas.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